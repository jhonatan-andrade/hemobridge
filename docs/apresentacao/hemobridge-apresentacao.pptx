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0a387eafe4417" /><Relationship Type="http://schemas.openxmlformats.org/officeDocument/2006/relationships/extended-properties" Target="/docProps/app.xml" Id="R19596cc34bcc4f43" /><Relationship Type="http://schemas.openxmlformats.org/officeDocument/2006/relationships/officeDocument" Target="/ppt/presentation.xml" Id="R844dd663858146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390663a9624ba1"/>
  </p:sldMasterIdLst>
  <p:notesMasterIdLst>
    <p:notesMasterId xmlns:r="http://schemas.openxmlformats.org/officeDocument/2006/relationships" r:id="R4d0a4189d9b5488d"/>
  </p:notesMasterIdLst>
  <p:sldIdLst>
    <p:sldId xmlns:r="http://schemas.openxmlformats.org/officeDocument/2006/relationships" id="256" r:id="Rf02f5dfd2f38459a"/>
    <p:sldId xmlns:r="http://schemas.openxmlformats.org/officeDocument/2006/relationships" id="257" r:id="R4d3f420b3e044dc2"/>
    <p:sldId xmlns:r="http://schemas.openxmlformats.org/officeDocument/2006/relationships" id="258" r:id="Rb365f40574824f57"/>
    <p:sldId xmlns:r="http://schemas.openxmlformats.org/officeDocument/2006/relationships" id="259" r:id="Raf2594bb8c0640f2"/>
    <p:sldId xmlns:r="http://schemas.openxmlformats.org/officeDocument/2006/relationships" id="260" r:id="Rd00384f18dcf4e2e"/>
    <p:sldId xmlns:r="http://schemas.openxmlformats.org/officeDocument/2006/relationships" id="261" r:id="R6b4b4afc619844ce"/>
    <p:sldId xmlns:r="http://schemas.openxmlformats.org/officeDocument/2006/relationships" id="262" r:id="R7f091c0d4b784d3a"/>
    <p:sldId xmlns:r="http://schemas.openxmlformats.org/officeDocument/2006/relationships" id="263" r:id="Ra39c3011ca5b4789"/>
    <p:sldId xmlns:r="http://schemas.openxmlformats.org/officeDocument/2006/relationships" id="264" r:id="R592c768ee9434a2f"/>
    <p:sldId xmlns:r="http://schemas.openxmlformats.org/officeDocument/2006/relationships" id="265" r:id="R09367ecf56f04c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1905ce09bc4584" /><Relationship Type="http://schemas.openxmlformats.org/officeDocument/2006/relationships/slideMaster" Target="/ppt/slideMasters/slideMaster1.xml" Id="R60390663a9624ba1" /><Relationship Type="http://schemas.openxmlformats.org/officeDocument/2006/relationships/notesMaster" Target="/ppt/notesMasters/notesMaster1.xml" Id="R4d0a4189d9b5488d" /><Relationship Type="http://schemas.openxmlformats.org/officeDocument/2006/relationships/presProps" Target="/ppt/presProps.xml" Id="R47ac5ee1c8af4a4d" /><Relationship Type="http://schemas.openxmlformats.org/officeDocument/2006/relationships/tableStyles" Target="/ppt/tableStyles.xml" Id="Ra08b3b6893544927" /><Relationship Type="http://schemas.openxmlformats.org/officeDocument/2006/relationships/slide" Target="/ppt/slides/slide1.xml" Id="Rf02f5dfd2f38459a" /><Relationship Type="http://schemas.openxmlformats.org/officeDocument/2006/relationships/slide" Target="/ppt/slides/slide2.xml" Id="R4d3f420b3e044dc2" /><Relationship Type="http://schemas.openxmlformats.org/officeDocument/2006/relationships/slide" Target="/ppt/slides/slide3.xml" Id="Rb365f40574824f57" /><Relationship Type="http://schemas.openxmlformats.org/officeDocument/2006/relationships/slide" Target="/ppt/slides/slide4.xml" Id="Raf2594bb8c0640f2" /><Relationship Type="http://schemas.openxmlformats.org/officeDocument/2006/relationships/slide" Target="/ppt/slides/slide5.xml" Id="Rd00384f18dcf4e2e" /><Relationship Type="http://schemas.openxmlformats.org/officeDocument/2006/relationships/slide" Target="/ppt/slides/slide6.xml" Id="R6b4b4afc619844ce" /><Relationship Type="http://schemas.openxmlformats.org/officeDocument/2006/relationships/slide" Target="/ppt/slides/slide7.xml" Id="R7f091c0d4b784d3a" /><Relationship Type="http://schemas.openxmlformats.org/officeDocument/2006/relationships/slide" Target="/ppt/slides/slide8.xml" Id="Ra39c3011ca5b4789" /><Relationship Type="http://schemas.openxmlformats.org/officeDocument/2006/relationships/slide" Target="/ppt/slides/slide9.xml" Id="R592c768ee9434a2f" /><Relationship Type="http://schemas.openxmlformats.org/officeDocument/2006/relationships/slide" Target="/ppt/slides/slide10.xml" Id="R09367ecf56f0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2f3a6ed74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6f3bacfe8424d" /><Relationship Type="http://schemas.openxmlformats.org/officeDocument/2006/relationships/notesMaster" Target="/ppt/notesMasters/notesMaster1.xml" Id="R90788c67519744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5f2bab3469466b" /><Relationship Type="http://schemas.openxmlformats.org/officeDocument/2006/relationships/notesMaster" Target="/ppt/notesMasters/notesMaster1.xml" Id="R41b86c44358345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b09263ac94453" /><Relationship Type="http://schemas.openxmlformats.org/officeDocument/2006/relationships/notesMaster" Target="/ppt/notesMasters/notesMaster1.xml" Id="R44e3c8f1bf9147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4c10e33a64d0e" /><Relationship Type="http://schemas.openxmlformats.org/officeDocument/2006/relationships/notesMaster" Target="/ppt/notesMasters/notesMaster1.xml" Id="Rff65a4a1d3e6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715fed3d2430c" /><Relationship Type="http://schemas.openxmlformats.org/officeDocument/2006/relationships/notesMaster" Target="/ppt/notesMasters/notesMaster1.xml" Id="R4bcfc2afa94f4a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730c36eaa742aa" /><Relationship Type="http://schemas.openxmlformats.org/officeDocument/2006/relationships/notesMaster" Target="/ppt/notesMasters/notesMaster1.xml" Id="R8a498542af6f48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ece10c4c2449b" /><Relationship Type="http://schemas.openxmlformats.org/officeDocument/2006/relationships/notesMaster" Target="/ppt/notesMasters/notesMaster1.xml" Id="R43243a1ba8fc44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9a318b76624401" /><Relationship Type="http://schemas.openxmlformats.org/officeDocument/2006/relationships/notesMaster" Target="/ppt/notesMasters/notesMaster1.xml" Id="R70398324447f42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d9859ec60941ce" /><Relationship Type="http://schemas.openxmlformats.org/officeDocument/2006/relationships/notesMaster" Target="/ppt/notesMasters/notesMaster1.xml" Id="Rc296bf3313894d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47660ef801489f" /><Relationship Type="http://schemas.openxmlformats.org/officeDocument/2006/relationships/notesMaster" Target="/ppt/notesMasters/notesMaster1.xml" Id="Ree25884aa68f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apresentar o produto e o estado real da entrega. Fontes: README.md; docs/entrega-e-validacao.md; docs/manual/README.md. Marca: assets/images/logo-horizontal-escuro.png, arquivo original. Poppins: assets/fonts. Fraunces: frontend/public/hemobridge/fonts/fraunces-italic.ttf, licença OFL. Esta apresentação não declara publicação em produção.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docs/manual/README.md; frontend/src/pages/local-discovery.tsx; docs/tcc/imagens/locais-web.jpg. A imagem é uma captura real revisada da versão web. A busca abre serviços externos de mapas e exige confirmar a disponibilidade com cada unidade. Não representa recomendação individualizada, vaga garantida ou resultado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frontend/src/app.tsx; frontend/src/pages/professional.tsx; frontend/src/pages/patient.tsx; frontend/src/pages/privacy-requests.tsx; app/lib/features/; docs/manual/visitante.md; paciente-doador.md; medico.md; representante.md; administrador.md. O visitante é contexto público web. O aplicativo exige login para acessar a Comunidade. As permissões e vínculos são verificados pela API. A tela de solicitações de privacidade está exposta no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docs/roteiro-apresentacao.md; frontend/src/pages/patient-journey.tsx; frontend/src/pages/professional.tsx; backend/src/representante/doacoes.controller.ts; backend/src/indicadores/indicadores.controller.ts; backend/src/notificacoes/. A sequência é a jornada prevista e o roteiro de apresentação. A base inspecionada oferece consultas, exames, necessidades e estoque. Registro individual de doação, dashboards de indicadores e exportação por período possuem serviços na API e ainda não têm tela no cliente atual. Não apresentar essas partes como execução ao vivo concluída. A apresentação não define tempos clínicos nem automatiza aprovação.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docs/tcc/imagens/inicio-web.jpg, captura real revisada do navegador; docs/design/evidencias/figma-app-perfil-resumo.png, captura de protótipo Figma claramente rotulada; docs/manual/README.md; frontend/src/index.css; app/lib/app/. As duas imagens não provam homologação completa. A equipe informou a aprovação das telas. A captura do aplicativo ilustra o desenho aprovado e não é fotografia ou screenshot de execução nativa.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frontend/package.json; app/pubspec.yaml; backend/package.json; backend/prisma/schema.prisma; backend/src/exames/; backend/src/notificacoes/; infra/aws/README.md. Diagrama lógico editável. O ambiente local usa PostgreSQL, SeaweedFS compatível com S3 e Mailpit. O plano AWS prevê site privado via CloudFront/OAC, API ECS Fargate sem root, banco privado KMS com PostGIS, S3 privado e SES. Templates de infraestrutura não equivalem a recursos provisionados ou deploy homologado.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infra/aws/README.md, seções Autenticação e privacidade / Recuperação e publicação; backend/prisma/schema.prisma e migrações; backend/src/auth/; backend/src/exames/; backend/src/notificacoes/; docs/correcoes-da-auditoria.md. Arquivos aceitos PDF/JPG/PNG até 5 MB, cifra AES-256-GCM, metadados no banco e objeto em S3. Restrições de banco e validação de serviço precisam ser mantidas na implantação. Este slide descreve medidas do código e requisitos operacionais, sem declarar certificação jurídica integral de LGPD. Nenhuma credencial, exame real ou dump integra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docs/testes/evidencias-automatizadas-2026-10-21.json; docs/testes/execucao-pt01-pt23-2026-10-21.md; docs/homologacao-android-2026-10-19.md. U21 e W21: base local 7b3ac2e4ef0d4f6c89340aaadf7cd825e1625328, 221/221 API e 35/35 web. I19 e F19: CI histórica de 19/10, árvore candidata 8ab2474d0dcf23b86626adb4d7c162107d45e4ec, https://github.com/Jhonatan-Andrade/Hemobridge/actions/runs/39347115658. Android físico: APK debug da base 609b4cb75d3020392aece62f5c6b198e5378d3f6, anterior às últimas correções, cobertura parcial. Não somar estas contagens como uma rodada única. Suítes automatizadas não substituem execução e aceite dos 23 casos PT01–PT23.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docs/manual/revisao-e-evidencias.md; docs/roteiro-apresentacao.md; backend/src/representante/doacoes.controller.ts; backend/src/indicadores/indicadores.controller.ts; frontend/src/pages/local-discovery.tsx; docs/homologacao-android-2026-10-19.md; infra/aws/README.md. Recorte de interface verificado na base 7b3ac2e4. Endpoints existentes não comprovam ação disponível pelo menu. Reconciliar este slide se a integração posterior acrescentar essas telas antes da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solicitação da usuária informando telas aprovadas pela equipe; docs/roteiro-apresentacao.md; docs/testes/execucao-pt01-pt23-2026-10-21.md; docs/homologacao-android-2026-10-19.md; infra/aws/README.md. O material prepara a apresentação, sem atribuir ensaio realizado, aceite formal, conclusão de tarefa Jira, merge ou publicação. Confirmar disponibilidade das interfaces na versão final antes de fazer a demonstração ao vivo.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c7dfb362648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81a3b4a624f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cdf9869e74a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6188f33784d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0406293ff48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a9e305765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C0868-D358-4DBE-99D1-3A6CB1D18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CC3667-ED0B-4350-BA93-2035CE64B1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7903FF-DBF4-4BCD-85BC-A2CFE43BE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C90010-8E9E-4A7A-8056-58136D6549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3613F6-DF4A-411A-BACD-FC014BC530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A18ECC-2E0E-4B4F-86DA-11BFC6FA1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E96239-E08F-4AE8-8143-43BFC0A1BA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F3CB5B-CC3F-45E5-A61B-AFBD4832B6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389AB6-14D9-47A7-BDE6-73B0ACCF7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B92494-A4DA-4DCF-AF46-ECD0D6B5D4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baecdeaca4e74" /><Relationship Type="http://schemas.openxmlformats.org/officeDocument/2006/relationships/slideLayout" Target="/ppt/slideLayouts/slideLayout1.xml" Id="R69eecaf4f94d41b3" /><Relationship Type="http://schemas.openxmlformats.org/officeDocument/2006/relationships/slideLayout" Target="/ppt/slideLayouts/slideLayout2.xml" Id="R165b3704d9b34ef0" /><Relationship Type="http://schemas.openxmlformats.org/officeDocument/2006/relationships/slideLayout" Target="/ppt/slideLayouts/slideLayout3.xml" Id="R143c6f33e6ce4d5b" /><Relationship Type="http://schemas.openxmlformats.org/officeDocument/2006/relationships/slideLayout" Target="/ppt/slideLayouts/slideLayout4.xml" Id="Ref4bcf1a25244afc" /><Relationship Type="http://schemas.openxmlformats.org/officeDocument/2006/relationships/slideLayout" Target="/ppt/slideLayouts/slideLayout5.xml" Id="R856ca86727994307" /><Relationship Type="http://schemas.openxmlformats.org/officeDocument/2006/relationships/slideLayout" Target="/ppt/slideLayouts/slideLayout6.xml" Id="R268f6f2f27a7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ecaf4f94d41b3"/>
    <p:sldLayoutId xmlns:r="http://schemas.openxmlformats.org/officeDocument/2006/relationships" id="2147483650" r:id="R165b3704d9b34ef0"/>
    <p:sldLayoutId xmlns:r="http://schemas.openxmlformats.org/officeDocument/2006/relationships" id="2147483651" r:id="R143c6f33e6ce4d5b"/>
    <p:sldLayoutId xmlns:r="http://schemas.openxmlformats.org/officeDocument/2006/relationships" id="2147483652" r:id="Ref4bcf1a25244afc"/>
    <p:sldLayoutId xmlns:r="http://schemas.openxmlformats.org/officeDocument/2006/relationships" id="2147483653" r:id="R856ca86727994307"/>
    <p:sldLayoutId xmlns:r="http://schemas.openxmlformats.org/officeDocument/2006/relationships" id="2147483654" r:id="R268f6f2f27a7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0821a057a4909" /><Relationship Type="http://schemas.openxmlformats.org/officeDocument/2006/relationships/image" Target="/ppt/media/image.png" Id="R4ee917479ad44929" /><Relationship Type="http://schemas.openxmlformats.org/officeDocument/2006/relationships/notesSlide" Target="/ppt/notesSlides/notesSlide1.xml" Id="Rd1f894f08e9b41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7e701c8034652" /><Relationship Type="http://schemas.openxmlformats.org/officeDocument/2006/relationships/image" Target="/ppt/media/image.jpeg" Id="R282df99bbecf4e08" /><Relationship Type="http://schemas.openxmlformats.org/officeDocument/2006/relationships/notesSlide" Target="/ppt/notesSlides/notesSlide2.xml" Id="R9402b23f35ff4e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3f6f1609d4ea9" /><Relationship Type="http://schemas.openxmlformats.org/officeDocument/2006/relationships/notesSlide" Target="/ppt/notesSlides/notesSlide3.xml" Id="R3904d7973e30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00303ebeb4e43" /><Relationship Type="http://schemas.openxmlformats.org/officeDocument/2006/relationships/notesSlide" Target="/ppt/notesSlides/notesSlide4.xml" Id="Re582d20b01f04d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89c90716b4cfe" /><Relationship Type="http://schemas.openxmlformats.org/officeDocument/2006/relationships/image" Target="/ppt/media/image2.jpeg" Id="R7a857b23574d46d1" /><Relationship Type="http://schemas.openxmlformats.org/officeDocument/2006/relationships/image" Target="/ppt/media/image2.png" Id="R1a1581ac66344fa6" /><Relationship Type="http://schemas.openxmlformats.org/officeDocument/2006/relationships/notesSlide" Target="/ppt/notesSlides/notesSlide5.xml" Id="Rb522b273fb1c44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1e2b6d1684dd8" /><Relationship Type="http://schemas.openxmlformats.org/officeDocument/2006/relationships/notesSlide" Target="/ppt/notesSlides/notesSlide6.xml" Id="Rd1cd40d9bcae41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280a7d22c4014" /><Relationship Type="http://schemas.openxmlformats.org/officeDocument/2006/relationships/notesSlide" Target="/ppt/notesSlides/notesSlide7.xml" Id="R46cfe9bfd8344a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131dd77dd4297" /><Relationship Type="http://schemas.openxmlformats.org/officeDocument/2006/relationships/notesSlide" Target="/ppt/notesSlides/notesSlide8.xml" Id="R9e28336487054f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8d16d3eed41de" /><Relationship Type="http://schemas.openxmlformats.org/officeDocument/2006/relationships/notesSlide" Target="/ppt/notesSlides/notesSlide9.xml" Id="R5ef084b09cd246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f4e2ae03a4019" /><Relationship Type="http://schemas.openxmlformats.org/officeDocument/2006/relationships/notesSlide" Target="/ppt/notesSlides/notesSlide10.xml" Id="R90e4daecffce44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2A4A9-862F-42F1-A502-D124084F3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917479ad44929"/>
          <a:stretch xmlns:a="http://schemas.openxmlformats.org/drawingml/2006/main"/>
        </p:blipFill>
        <p:spPr>
          <a:xfrm xmlns:a="http://schemas.openxmlformats.org/drawingml/2006/main">
            <a:off x="542925" y="459145"/>
            <a:ext cx="5143500" cy="1453434"/>
          </a:xfrm>
          <a:prstGeom xmlns:a="http://schemas.openxmlformats.org/drawingml/2006/main" prst="rect">
            <a:avLst/>
          </a:prstGeom>
        </p:spPr>
      </p:pic>
      <p:sp>
        <p:nvSpPr>
          <p:cNvPr id="3" name="slogan-fraunces">
            <a:extLst xmlns:a="http://schemas.openxmlformats.org/drawingml/2006/main">
              <a:ext uri="{FF2B5EF4-FFF2-40B4-BE49-F238E27FC236}">
                <a16:creationId xmlns:a16="http://schemas.microsoft.com/office/drawing/2014/main" id="{B9D39B5A-B48C-4881-91BE-CACA0A15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0096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defPPr>
            <a:lvl1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1pPr>
            <a:lvl2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2pPr>
            <a:lvl3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3pPr>
            <a:lvl4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4pPr>
            <a:lvl5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5pPr>
            <a:lvl6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6pPr>
            <a:lvl7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7pPr>
            <a:lvl8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8pPr>
            <a:lvl9pPr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defRPr>
            </a:pPr>
            <a:r>
              <a:rPr sz="5025" b="0" i="1">
                <a:solidFill>
                  <a:srgbClr val="FFFFFF"/>
                </a:solidFill>
                <a:latin typeface="Fraunces"/>
                <a:ea typeface="Fraunces"/>
                <a:cs typeface="Fraunces"/>
              </a:rPr>
              <a:t>A ponte que</a:t>
            </a:r>
          </a:p>
        </p:txBody>
      </p:sp>
      <p:sp>
        <p:nvSpPr>
          <p:cNvPr id="4" name="slogan">
            <a:extLst xmlns:a="http://schemas.openxmlformats.org/drawingml/2006/main">
              <a:ext uri="{FF2B5EF4-FFF2-40B4-BE49-F238E27FC236}">
                <a16:creationId xmlns:a16="http://schemas.microsoft.com/office/drawing/2014/main" id="{D706B446-76EC-4672-AFAB-C624F81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51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conecta vidas</a:t>
            </a:r>
          </a:p>
        </p:txBody>
      </p:sp>
      <p:sp>
        <p:nvSpPr>
          <p:cNvPr id="5" name="proposito">
            <a:extLst xmlns:a="http://schemas.openxmlformats.org/drawingml/2006/main">
              <a:ext uri="{FF2B5EF4-FFF2-40B4-BE49-F238E27FC236}">
                <a16:creationId xmlns:a16="http://schemas.microsoft.com/office/drawing/2014/main" id="{3D5C5F30-6F06-4346-8B20-8A928021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910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defPPr>
            <a:lvl1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1pPr>
            <a:lvl2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2pPr>
            <a:lvl3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3pPr>
            <a:lvl4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4pPr>
            <a:lvl5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5pPr>
            <a:lvl6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6pPr>
            <a:lvl7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7pPr>
            <a:lvl8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8pPr>
            <a:lvl9pPr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pPr>
            <a:r>
              <a:rPr sz="2100" b="0" i="0">
                <a:solidFill>
                  <a:srgbClr val="CED8DE"/>
                </a:solidFill>
                <a:latin typeface="Poppins"/>
                <a:ea typeface="Poppins"/>
                <a:cs typeface="Poppins"/>
              </a:rPr>
              <a:t>Plataforma de apoio à jornada de doação de sangue</a:t>
            </a:r>
          </a:p>
        </p:txBody>
      </p:sp>
      <p:sp>
        <p:nvSpPr>
          <p:cNvPr id="6" name="data">
            <a:extLst xmlns:a="http://schemas.openxmlformats.org/drawingml/2006/main">
              <a:ext uri="{FF2B5EF4-FFF2-40B4-BE49-F238E27FC236}">
                <a16:creationId xmlns:a16="http://schemas.microsoft.com/office/drawing/2014/main" id="{ADBB00B0-37B3-49ED-B950-04572533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531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defRPr>
            </a:pPr>
            <a:r>
              <a:rPr sz="1350" b="0" i="0">
                <a:solidFill>
                  <a:srgbClr val="CED8DE"/>
                </a:solidFill>
                <a:latin typeface="Poppins"/>
                <a:ea typeface="Poppins"/>
                <a:cs typeface="Poppins"/>
              </a:rPr>
              <a:t>Apresentação do projeto  /  22 de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292191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7D4ABFD6-8945-4FCB-BBC9-0F26029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Problema e proposta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AA3CDE9F-E145-433F-85D6-D8CD8F69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4" name="problema-titulo">
            <a:extLst xmlns:a="http://schemas.openxmlformats.org/drawingml/2006/main">
              <a:ext uri="{FF2B5EF4-FFF2-40B4-BE49-F238E27FC236}">
                <a16:creationId xmlns:a16="http://schemas.microsoft.com/office/drawing/2014/main" id="{5B160B3A-513C-4E5F-BACD-6EC3556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5000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 jornada precisa ser compreensível</a:t>
            </a:r>
          </a:p>
        </p:txBody>
      </p:sp>
      <p:sp>
        <p:nvSpPr>
          <p:cNvPr id="5" name="problema">
            <a:extLst xmlns:a="http://schemas.openxmlformats.org/drawingml/2006/main">
              <a:ext uri="{FF2B5EF4-FFF2-40B4-BE49-F238E27FC236}">
                <a16:creationId xmlns:a16="http://schemas.microsoft.com/office/drawing/2014/main" id="{0DD92ED7-3304-496F-A836-89916AF3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1325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02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Quem deseja doar precisa entender a situação do cadastro, os próximos passos e onde procurar atendimento.</a:t>
            </a:r>
          </a:p>
        </p:txBody>
      </p:sp>
      <p:sp>
        <p:nvSpPr>
          <p:cNvPr id="6" name="proposta">
            <a:extLst xmlns:a="http://schemas.openxmlformats.org/drawingml/2006/main">
              <a:ext uri="{FF2B5EF4-FFF2-40B4-BE49-F238E27FC236}">
                <a16:creationId xmlns:a16="http://schemas.microsoft.com/office/drawing/2014/main" id="{470AE949-C87E-43BD-8FB3-F1462A45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2917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O HemoBridge aproxima doadores das instituições e reúne esse acompanhamento.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5E5F9-7C92-400E-A850-DB4A61A200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df99bbecf4e08"/>
          <a:stretch xmlns:a="http://schemas.openxmlformats.org/drawingml/2006/main"/>
        </p:blipFill>
        <p:spPr>
          <a:xfrm xmlns:a="http://schemas.openxmlformats.org/drawingml/2006/main">
            <a:off x="6219825" y="2220550"/>
            <a:ext cx="5286375" cy="2245451"/>
          </a:xfrm>
          <a:prstGeom xmlns:a="http://schemas.openxmlformats.org/drawingml/2006/main" prst="rect">
            <a:avLst/>
          </a:prstGeom>
        </p:spPr>
      </p:pic>
      <p:sp>
        <p:nvSpPr>
          <p:cNvPr id="8" name="legenda">
            <a:extLst xmlns:a="http://schemas.openxmlformats.org/drawingml/2006/main">
              <a:ext uri="{FF2B5EF4-FFF2-40B4-BE49-F238E27FC236}">
                <a16:creationId xmlns:a16="http://schemas.microsoft.com/office/drawing/2014/main" id="{0D8CC3E5-6135-40BB-88A3-560429E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67300"/>
            <a:ext cx="5172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Busca de locais por serviço e município no site</a:t>
            </a:r>
          </a:p>
        </p:txBody>
      </p:sp>
    </p:spTree>
    <p:extLst>
      <p:ext uri="{BB962C8B-B14F-4D97-AF65-F5344CB8AC3E}">
        <p14:creationId xmlns:p14="http://schemas.microsoft.com/office/powerpoint/2010/main" val="1612895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34F8BEAA-31A1-4C30-B34F-5BD5A289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Perfis e responsabilidades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93710230-D798-41F1-B414-D9B2193C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" name="perfil-0">
            <a:extLst xmlns:a="http://schemas.openxmlformats.org/drawingml/2006/main">
              <a:ext uri="{FF2B5EF4-FFF2-40B4-BE49-F238E27FC236}">
                <a16:creationId xmlns:a16="http://schemas.microsoft.com/office/drawing/2014/main" id="{F474327B-120A-4BF5-AE06-D2F99D2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Visitante</a:t>
            </a:r>
          </a:p>
        </p:txBody>
      </p:sp>
      <p:sp>
        <p:nvSpPr>
          <p:cNvPr id="5" name="funcao-0">
            <a:extLst xmlns:a="http://schemas.openxmlformats.org/drawingml/2006/main">
              <a:ext uri="{FF2B5EF4-FFF2-40B4-BE49-F238E27FC236}">
                <a16:creationId xmlns:a16="http://schemas.microsoft.com/office/drawing/2014/main" id="{D65FC609-D5FD-40F7-8D13-E459055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85925"/>
            <a:ext cx="712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Conhece a plataforma, lê publicações e inicia o pré-cadastro.</a:t>
            </a:r>
          </a:p>
        </p:txBody>
      </p:sp>
      <p:sp>
        <p:nvSpPr>
          <p:cNvPr id="6" name="perfil-1">
            <a:extLst xmlns:a="http://schemas.openxmlformats.org/drawingml/2006/main">
              <a:ext uri="{FF2B5EF4-FFF2-40B4-BE49-F238E27FC236}">
                <a16:creationId xmlns:a16="http://schemas.microsoft.com/office/drawing/2014/main" id="{4CCB723F-00EA-4C52-9E93-E4A35C9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Paciente/Doador</a:t>
            </a:r>
          </a:p>
        </p:txBody>
      </p:sp>
      <p:sp>
        <p:nvSpPr>
          <p:cNvPr id="7" name="funcao-1">
            <a:extLst xmlns:a="http://schemas.openxmlformats.org/drawingml/2006/main">
              <a:ext uri="{FF2B5EF4-FFF2-40B4-BE49-F238E27FC236}">
                <a16:creationId xmlns:a16="http://schemas.microsoft.com/office/drawing/2014/main" id="{1D710B69-7296-4BD6-88EF-9D40DF00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712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Acompanha consultas e exames, busca locais e participa da comunidade.</a:t>
            </a:r>
          </a:p>
        </p:txBody>
      </p:sp>
      <p:sp>
        <p:nvSpPr>
          <p:cNvPr id="8" name="perfil-2">
            <a:extLst xmlns:a="http://schemas.openxmlformats.org/drawingml/2006/main">
              <a:ext uri="{FF2B5EF4-FFF2-40B4-BE49-F238E27FC236}">
                <a16:creationId xmlns:a16="http://schemas.microsoft.com/office/drawing/2014/main" id="{7FC87706-48A1-400A-B135-9445349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Médico</a:t>
            </a:r>
          </a:p>
        </p:txBody>
      </p:sp>
      <p:sp>
        <p:nvSpPr>
          <p:cNvPr id="9" name="funcao-2">
            <a:extLst xmlns:a="http://schemas.openxmlformats.org/drawingml/2006/main">
              <a:ext uri="{FF2B5EF4-FFF2-40B4-BE49-F238E27FC236}">
                <a16:creationId xmlns:a16="http://schemas.microsoft.com/office/drawing/2014/main" id="{7343D31E-79AA-4472-95AD-E82AD6AD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19475"/>
            <a:ext cx="712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Atua nas instituições vinculadas, publica horários e avalia atendimentos e exames.</a:t>
            </a:r>
          </a:p>
        </p:txBody>
      </p:sp>
      <p:sp>
        <p:nvSpPr>
          <p:cNvPr id="10" name="perfil-3">
            <a:extLst xmlns:a="http://schemas.openxmlformats.org/drawingml/2006/main">
              <a:ext uri="{FF2B5EF4-FFF2-40B4-BE49-F238E27FC236}">
                <a16:creationId xmlns:a16="http://schemas.microsoft.com/office/drawing/2014/main" id="{E1184310-6DD4-4141-8543-6D4AB67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Representante de Hospital</a:t>
            </a:r>
          </a:p>
        </p:txBody>
      </p:sp>
      <p:sp>
        <p:nvSpPr>
          <p:cNvPr id="11" name="funcao-3">
            <a:extLst xmlns:a="http://schemas.openxmlformats.org/drawingml/2006/main">
              <a:ext uri="{FF2B5EF4-FFF2-40B4-BE49-F238E27FC236}">
                <a16:creationId xmlns:a16="http://schemas.microsoft.com/office/drawing/2014/main" id="{B8BE16F1-615F-40F8-A88F-C8D448E8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712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Atualiza necessidades, registra bolsas e publica avisos institucionais.</a:t>
            </a:r>
          </a:p>
        </p:txBody>
      </p:sp>
      <p:sp>
        <p:nvSpPr>
          <p:cNvPr id="12" name="perfil-4">
            <a:extLst xmlns:a="http://schemas.openxmlformats.org/drawingml/2006/main">
              <a:ext uri="{FF2B5EF4-FFF2-40B4-BE49-F238E27FC236}">
                <a16:creationId xmlns:a16="http://schemas.microsoft.com/office/drawing/2014/main" id="{9288A740-5FEB-4AF9-B3DD-3446C321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Administrador</a:t>
            </a:r>
          </a:p>
        </p:txBody>
      </p:sp>
      <p:sp>
        <p:nvSpPr>
          <p:cNvPr id="13" name="funcao-4">
            <a:extLst xmlns:a="http://schemas.openxmlformats.org/drawingml/2006/main">
              <a:ext uri="{FF2B5EF4-FFF2-40B4-BE49-F238E27FC236}">
                <a16:creationId xmlns:a16="http://schemas.microsoft.com/office/drawing/2014/main" id="{CFD49117-E046-41E0-A083-6650FDBA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53025"/>
            <a:ext cx="712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Consulta o mapa regional, modera a comunidade e atende solicitações de privacidade no site.</a:t>
            </a:r>
          </a:p>
        </p:txBody>
      </p:sp>
    </p:spTree>
    <p:extLst>
      <p:ext uri="{BB962C8B-B14F-4D97-AF65-F5344CB8AC3E}">
        <p14:creationId xmlns:p14="http://schemas.microsoft.com/office/powerpoint/2010/main" val="983266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F8E55D36-6E75-4E45-97FA-AE2E8C82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Jornada de acompanhamento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6A5336E5-B4A7-4DD4-BFB0-3FB407A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4" name="ordem-0">
            <a:extLst xmlns:a="http://schemas.openxmlformats.org/drawingml/2006/main">
              <a:ext uri="{FF2B5EF4-FFF2-40B4-BE49-F238E27FC236}">
                <a16:creationId xmlns:a16="http://schemas.microsoft.com/office/drawing/2014/main" id="{BFEBC496-12D4-486F-B423-7130205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5" name="etapa-0">
            <a:extLst xmlns:a="http://schemas.openxmlformats.org/drawingml/2006/main">
              <a:ext uri="{FF2B5EF4-FFF2-40B4-BE49-F238E27FC236}">
                <a16:creationId xmlns:a16="http://schemas.microsoft.com/office/drawing/2014/main" id="{6BC33DB9-230F-436D-86E1-58691F0F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Pré-cadastro</a:t>
            </a:r>
          </a:p>
        </p:txBody>
      </p:sp>
      <p:sp>
        <p:nvSpPr>
          <p:cNvPr id="6" name="descricao-0">
            <a:extLst xmlns:a="http://schemas.openxmlformats.org/drawingml/2006/main">
              <a:ext uri="{FF2B5EF4-FFF2-40B4-BE49-F238E27FC236}">
                <a16:creationId xmlns:a16="http://schemas.microsoft.com/office/drawing/2014/main" id="{A9B9DDFC-E0CF-420B-B0F7-F8F7607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Dados, consentimento e primeiro acesso.</a:t>
            </a:r>
          </a:p>
        </p:txBody>
      </p:sp>
      <p:sp>
        <p:nvSpPr>
          <p:cNvPr id="7" name="ordem-1">
            <a:extLst xmlns:a="http://schemas.openxmlformats.org/drawingml/2006/main">
              <a:ext uri="{FF2B5EF4-FFF2-40B4-BE49-F238E27FC236}">
                <a16:creationId xmlns:a16="http://schemas.microsoft.com/office/drawing/2014/main" id="{46EAE205-6669-4203-BE92-40C461B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8" name="etapa-1">
            <a:extLst xmlns:a="http://schemas.openxmlformats.org/drawingml/2006/main">
              <a:ext uri="{FF2B5EF4-FFF2-40B4-BE49-F238E27FC236}">
                <a16:creationId xmlns:a16="http://schemas.microsoft.com/office/drawing/2014/main" id="{5D6700E2-FCB3-4D51-AEA5-72B06FF0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431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Consulta</a:t>
            </a:r>
          </a:p>
        </p:txBody>
      </p:sp>
      <p:sp>
        <p:nvSpPr>
          <p:cNvPr id="9" name="descricao-1">
            <a:extLst xmlns:a="http://schemas.openxmlformats.org/drawingml/2006/main">
              <a:ext uri="{FF2B5EF4-FFF2-40B4-BE49-F238E27FC236}">
                <a16:creationId xmlns:a16="http://schemas.microsoft.com/office/drawing/2014/main" id="{B8BD7E74-E9F3-4939-8136-F47BA00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57500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Horário disponível e atendimento pelo médico.</a:t>
            </a:r>
          </a:p>
        </p:txBody>
      </p:sp>
      <p:sp>
        <p:nvSpPr>
          <p:cNvPr id="10" name="ordem-2">
            <a:extLst xmlns:a="http://schemas.openxmlformats.org/drawingml/2006/main">
              <a:ext uri="{FF2B5EF4-FFF2-40B4-BE49-F238E27FC236}">
                <a16:creationId xmlns:a16="http://schemas.microsoft.com/office/drawing/2014/main" id="{38A73B3F-BFBE-409A-9250-A272DFB6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11" name="etapa-2">
            <a:extLst xmlns:a="http://schemas.openxmlformats.org/drawingml/2006/main">
              <a:ext uri="{FF2B5EF4-FFF2-40B4-BE49-F238E27FC236}">
                <a16:creationId xmlns:a16="http://schemas.microsoft.com/office/drawing/2014/main" id="{95CE4091-8BF4-4C84-97A2-FFA4A572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Exames</a:t>
            </a:r>
          </a:p>
        </p:txBody>
      </p:sp>
      <p:sp>
        <p:nvSpPr>
          <p:cNvPr id="12" name="descricao-2">
            <a:extLst xmlns:a="http://schemas.openxmlformats.org/drawingml/2006/main">
              <a:ext uri="{FF2B5EF4-FFF2-40B4-BE49-F238E27FC236}">
                <a16:creationId xmlns:a16="http://schemas.microsoft.com/office/drawing/2014/main" id="{679FD562-9635-4FD3-9C24-B68BC44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Solicitação, envio privado e leitura autorizada.</a:t>
            </a:r>
          </a:p>
        </p:txBody>
      </p:sp>
      <p:sp>
        <p:nvSpPr>
          <p:cNvPr id="13" name="ordem-3">
            <a:extLst xmlns:a="http://schemas.openxmlformats.org/drawingml/2006/main">
              <a:ext uri="{FF2B5EF4-FFF2-40B4-BE49-F238E27FC236}">
                <a16:creationId xmlns:a16="http://schemas.microsoft.com/office/drawing/2014/main" id="{6B1D99F5-15D3-4798-A238-706CF43E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14" name="etapa-3">
            <a:extLst xmlns:a="http://schemas.openxmlformats.org/drawingml/2006/main">
              <a:ext uri="{FF2B5EF4-FFF2-40B4-BE49-F238E27FC236}">
                <a16:creationId xmlns:a16="http://schemas.microsoft.com/office/drawing/2014/main" id="{01B10237-C2D1-4232-BB4B-E8583B6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Avaliação clínica</a:t>
            </a:r>
          </a:p>
        </p:txBody>
      </p:sp>
      <p:sp>
        <p:nvSpPr>
          <p:cNvPr id="15" name="descricao-3">
            <a:extLst xmlns:a="http://schemas.openxmlformats.org/drawingml/2006/main">
              <a:ext uri="{FF2B5EF4-FFF2-40B4-BE49-F238E27FC236}">
                <a16:creationId xmlns:a16="http://schemas.microsoft.com/office/drawing/2014/main" id="{D535CE69-4991-454B-89D1-EC8B4E53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Decisão humana e situação atualizada.</a:t>
            </a:r>
          </a:p>
        </p:txBody>
      </p:sp>
      <p:sp>
        <p:nvSpPr>
          <p:cNvPr id="16" name="ordem-4">
            <a:extLst xmlns:a="http://schemas.openxmlformats.org/drawingml/2006/main">
              <a:ext uri="{FF2B5EF4-FFF2-40B4-BE49-F238E27FC236}">
                <a16:creationId xmlns:a16="http://schemas.microsoft.com/office/drawing/2014/main" id="{22BC7D34-D4EF-445D-887E-50261086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004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17" name="etapa-4">
            <a:extLst xmlns:a="http://schemas.openxmlformats.org/drawingml/2006/main">
              <a:ext uri="{FF2B5EF4-FFF2-40B4-BE49-F238E27FC236}">
                <a16:creationId xmlns:a16="http://schemas.microsoft.com/office/drawing/2014/main" id="{AEF74A4E-5404-462E-9FE6-1B5C03E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Locais e orientações</a:t>
            </a:r>
          </a:p>
        </p:txBody>
      </p:sp>
      <p:sp>
        <p:nvSpPr>
          <p:cNvPr id="18" name="descricao-4">
            <a:extLst xmlns:a="http://schemas.openxmlformats.org/drawingml/2006/main">
              <a:ext uri="{FF2B5EF4-FFF2-40B4-BE49-F238E27FC236}">
                <a16:creationId xmlns:a16="http://schemas.microsoft.com/office/drawing/2014/main" id="{3502076B-6F99-4109-B5E9-71553B68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Busca por serviço e região.</a:t>
            </a:r>
          </a:p>
        </p:txBody>
      </p:sp>
      <p:sp>
        <p:nvSpPr>
          <p:cNvPr id="19" name="ordem-5">
            <a:extLst xmlns:a="http://schemas.openxmlformats.org/drawingml/2006/main">
              <a:ext uri="{FF2B5EF4-FFF2-40B4-BE49-F238E27FC236}">
                <a16:creationId xmlns:a16="http://schemas.microsoft.com/office/drawing/2014/main" id="{DADCD5F3-D620-4934-ADE3-BDFDEA68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004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20" name="etapa-5">
            <a:extLst xmlns:a="http://schemas.openxmlformats.org/drawingml/2006/main">
              <a:ext uri="{FF2B5EF4-FFF2-40B4-BE49-F238E27FC236}">
                <a16:creationId xmlns:a16="http://schemas.microsoft.com/office/drawing/2014/main" id="{8ADFEBC2-BACF-47D6-A5C8-29166B21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Necessidade crítica</a:t>
            </a:r>
          </a:p>
        </p:txBody>
      </p:sp>
      <p:sp>
        <p:nvSpPr>
          <p:cNvPr id="21" name="descricao-5">
            <a:extLst xmlns:a="http://schemas.openxmlformats.org/drawingml/2006/main">
              <a:ext uri="{FF2B5EF4-FFF2-40B4-BE49-F238E27FC236}">
                <a16:creationId xmlns:a16="http://schemas.microsoft.com/office/drawing/2014/main" id="{DE544911-F300-4EBE-8747-255E077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76825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Instituição informa a necessidade de sangue.</a:t>
            </a:r>
          </a:p>
        </p:txBody>
      </p:sp>
      <p:sp>
        <p:nvSpPr>
          <p:cNvPr id="22" name="ordem-6">
            <a:extLst xmlns:a="http://schemas.openxmlformats.org/drawingml/2006/main">
              <a:ext uri="{FF2B5EF4-FFF2-40B4-BE49-F238E27FC236}">
                <a16:creationId xmlns:a16="http://schemas.microsoft.com/office/drawing/2014/main" id="{E104E01D-21B9-4007-B997-90ADB2B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23" name="etapa-6">
            <a:extLst xmlns:a="http://schemas.openxmlformats.org/drawingml/2006/main">
              <a:ext uri="{FF2B5EF4-FFF2-40B4-BE49-F238E27FC236}">
                <a16:creationId xmlns:a16="http://schemas.microsoft.com/office/drawing/2014/main" id="{58415463-B8FD-45E8-8A97-4DA1A6B2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Notificação</a:t>
            </a:r>
          </a:p>
        </p:txBody>
      </p:sp>
      <p:sp>
        <p:nvSpPr>
          <p:cNvPr id="24" name="descricao-6">
            <a:extLst xmlns:a="http://schemas.openxmlformats.org/drawingml/2006/main">
              <a:ext uri="{FF2B5EF4-FFF2-40B4-BE49-F238E27FC236}">
                <a16:creationId xmlns:a16="http://schemas.microsoft.com/office/drawing/2014/main" id="{AD6C8BBF-8015-4F7E-B38A-1BE33BA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76825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Aviso segue elegibilidade e limite de reenvio.</a:t>
            </a:r>
          </a:p>
        </p:txBody>
      </p:sp>
      <p:sp>
        <p:nvSpPr>
          <p:cNvPr id="25" name="ordem-7">
            <a:extLst xmlns:a="http://schemas.openxmlformats.org/drawingml/2006/main">
              <a:ext uri="{FF2B5EF4-FFF2-40B4-BE49-F238E27FC236}">
                <a16:creationId xmlns:a16="http://schemas.microsoft.com/office/drawing/2014/main" id="{F5F01000-5054-4404-99A0-886EFFD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004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28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26" name="etapa-7">
            <a:extLst xmlns:a="http://schemas.openxmlformats.org/drawingml/2006/main">
              <a:ext uri="{FF2B5EF4-FFF2-40B4-BE49-F238E27FC236}">
                <a16:creationId xmlns:a16="http://schemas.microsoft.com/office/drawing/2014/main" id="{81AD59DB-218A-468E-9E48-670E38B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Doação e indicadores</a:t>
            </a:r>
          </a:p>
        </p:txBody>
      </p:sp>
      <p:sp>
        <p:nvSpPr>
          <p:cNvPr id="27" name="descricao-7">
            <a:extLst xmlns:a="http://schemas.openxmlformats.org/drawingml/2006/main">
              <a:ext uri="{FF2B5EF4-FFF2-40B4-BE49-F238E27FC236}">
                <a16:creationId xmlns:a16="http://schemas.microsoft.com/office/drawing/2014/main" id="{5B3B9F1C-4FDE-43D7-9ED4-2E9074EB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76825"/>
            <a:ext cx="2457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Etapas finais exigem interface integrada.</a:t>
            </a:r>
          </a:p>
        </p:txBody>
      </p:sp>
      <p:sp>
        <p:nvSpPr>
          <p:cNvPr id="28" name="limite-clinico">
            <a:extLst xmlns:a="http://schemas.openxmlformats.org/drawingml/2006/main">
              <a:ext uri="{FF2B5EF4-FFF2-40B4-BE49-F238E27FC236}">
                <a16:creationId xmlns:a16="http://schemas.microsoft.com/office/drawing/2014/main" id="{B3695487-59F0-4F18-8111-36D6626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A equipe de saúde define a aptidão. Registrar uma bolsa não registra uma doação individual.</a:t>
            </a:r>
          </a:p>
        </p:txBody>
      </p:sp>
    </p:spTree>
    <p:extLst>
      <p:ext uri="{BB962C8B-B14F-4D97-AF65-F5344CB8AC3E}">
        <p14:creationId xmlns:p14="http://schemas.microsoft.com/office/powerpoint/2010/main" val="1873422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17A91F40-1DC7-43D4-83D0-FD0949D8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Interfaces web e aplicativo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E9A27CE6-D1DC-466D-B41A-CCDF7D6C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A6807-226E-4F17-A3D0-97AE84B07A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57b23574d46d1"/>
          <a:stretch xmlns:a="http://schemas.openxmlformats.org/drawingml/2006/main"/>
        </p:blipFill>
        <p:spPr>
          <a:xfrm xmlns:a="http://schemas.openxmlformats.org/drawingml/2006/main">
            <a:off x="685800" y="1631496"/>
            <a:ext cx="7858125" cy="3337832"/>
          </a:xfrm>
          <a:prstGeom xmlns:a="http://schemas.openxmlformats.org/drawingml/2006/main" prst="rect">
            <a:avLst/>
          </a:prstGeom>
        </p:spPr>
      </p:pic>
      <p:sp>
        <p:nvSpPr>
          <p:cNvPr id="5" name="legenda-web">
            <a:extLst xmlns:a="http://schemas.openxmlformats.org/drawingml/2006/main">
              <a:ext uri="{FF2B5EF4-FFF2-40B4-BE49-F238E27FC236}">
                <a16:creationId xmlns:a16="http://schemas.microsoft.com/office/drawing/2014/main" id="{DB3A6020-D793-4E34-A099-D8BCCE0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65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Site atual no navegador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8DC7A-06F4-494E-9196-E3D5F5573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581ac66344fa6"/>
          <a:stretch xmlns:a="http://schemas.openxmlformats.org/drawingml/2006/main"/>
        </p:blipFill>
        <p:spPr>
          <a:xfrm xmlns:a="http://schemas.openxmlformats.org/drawingml/2006/main">
            <a:off x="9210675" y="1479086"/>
            <a:ext cx="2114550" cy="4576103"/>
          </a:xfrm>
          <a:prstGeom xmlns:a="http://schemas.openxmlformats.org/drawingml/2006/main" prst="rect">
            <a:avLst/>
          </a:prstGeom>
        </p:spPr>
      </p:pic>
      <p:sp>
        <p:nvSpPr>
          <p:cNvPr id="7" name="legenda-app">
            <a:extLst xmlns:a="http://schemas.openxmlformats.org/drawingml/2006/main">
              <a:ext uri="{FF2B5EF4-FFF2-40B4-BE49-F238E27FC236}">
                <a16:creationId xmlns:a16="http://schemas.microsoft.com/office/drawing/2014/main" id="{EA1BA86C-1AAF-457F-842F-251248E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124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35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Aplicativo: protótipo Figma</a:t>
            </a:r>
          </a:p>
        </p:txBody>
      </p:sp>
      <p:sp>
        <p:nvSpPr>
          <p:cNvPr id="8" name="nav-desktop">
            <a:extLst xmlns:a="http://schemas.openxmlformats.org/drawingml/2006/main">
              <a:ext uri="{FF2B5EF4-FFF2-40B4-BE49-F238E27FC236}">
                <a16:creationId xmlns:a16="http://schemas.microsoft.com/office/drawing/2014/main" id="{817155E3-87D0-4B17-9B04-0E50EAF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0225"/>
            <a:ext cx="760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Desktop: barra lateral expansível</a:t>
            </a:r>
          </a:p>
        </p:txBody>
      </p:sp>
      <p:sp>
        <p:nvSpPr>
          <p:cNvPr id="9" name="nav-mobile">
            <a:extLst xmlns:a="http://schemas.openxmlformats.org/drawingml/2006/main">
              <a:ext uri="{FF2B5EF4-FFF2-40B4-BE49-F238E27FC236}">
                <a16:creationId xmlns:a16="http://schemas.microsoft.com/office/drawing/2014/main" id="{77195E61-015A-4B82-B24C-10EC38A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9325"/>
            <a:ext cx="759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Web mobile: menu no cabeçalho</a:t>
            </a:r>
          </a:p>
          <a:p xmlns:a="http://schemas.openxmlformats.org/drawingml/2006/main">
            <a:pPr>
              <a:lnSpc>
                <a:spcPct val="113000"/>
              </a:lnSpc>
              <a:buNone/>
              <a:def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65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App: quatro destinos inferiores por perfil</a:t>
            </a:r>
          </a:p>
        </p:txBody>
      </p:sp>
    </p:spTree>
    <p:extLst>
      <p:ext uri="{BB962C8B-B14F-4D97-AF65-F5344CB8AC3E}">
        <p14:creationId xmlns:p14="http://schemas.microsoft.com/office/powerpoint/2010/main" val="1495650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9565C-333D-43E0-90EB-92020C8F1FA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62775" y="3390900"/>
            <a:ext cx="1571625" cy="2014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FD0D6"/>
            </a:solidFill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72C14-83BF-4F66-A14A-30163C4F5E1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62775" y="3390900"/>
            <a:ext cx="1571625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FD0D6"/>
            </a:solidFill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DCFAA-202C-4094-AEA9-E989CC3D1BD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962775" y="2176463"/>
            <a:ext cx="157162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FD0D6"/>
            </a:solidFill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D5AF7-ED93-4E9D-B120-B2586F20A84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171825" y="3390900"/>
            <a:ext cx="1400175" cy="852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FD0D6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5CB65-E282-4814-B92B-4B2F1E2A152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71825" y="2547938"/>
            <a:ext cx="1400175" cy="842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FD0D6"/>
            </a:solidFill>
            <a:tailEnd type="triangle" w="sm" len="sm"/>
          </a:ln>
        </p:spPr>
      </p:cxnSp>
      <p:sp>
        <p:nvSpPr>
          <p:cNvPr id="7" name="titulo">
            <a:extLst xmlns:a="http://schemas.openxmlformats.org/drawingml/2006/main">
              <a:ext uri="{FF2B5EF4-FFF2-40B4-BE49-F238E27FC236}">
                <a16:creationId xmlns:a16="http://schemas.microsoft.com/office/drawing/2014/main" id="{919F7F93-6294-4C90-B5AA-93A776C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Arquitetura do produto</a:t>
            </a:r>
          </a:p>
        </p:txBody>
      </p:sp>
      <p:sp>
        <p:nvSpPr>
          <p:cNvPr id="8" name="pagina">
            <a:extLst xmlns:a="http://schemas.openxmlformats.org/drawingml/2006/main">
              <a:ext uri="{FF2B5EF4-FFF2-40B4-BE49-F238E27FC236}">
                <a16:creationId xmlns:a16="http://schemas.microsoft.com/office/drawing/2014/main" id="{DAA2F27D-9F91-43D7-B700-B8E8314D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9" name="cliente-web">
            <a:extLst xmlns:a="http://schemas.openxmlformats.org/drawingml/2006/main">
              <a:ext uri="{FF2B5EF4-FFF2-40B4-BE49-F238E27FC236}">
                <a16:creationId xmlns:a16="http://schemas.microsoft.com/office/drawing/2014/main" id="{EF1F472F-00D7-4CC3-93E8-2B263C99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86025" cy="117157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Web</a:t>
            </a:r>
          </a:p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React / TypeScript</a:t>
            </a:r>
          </a:p>
        </p:txBody>
      </p:sp>
      <p:sp>
        <p:nvSpPr>
          <p:cNvPr id="10" name="cliente-app">
            <a:extLst xmlns:a="http://schemas.openxmlformats.org/drawingml/2006/main">
              <a:ext uri="{FF2B5EF4-FFF2-40B4-BE49-F238E27FC236}">
                <a16:creationId xmlns:a16="http://schemas.microsoft.com/office/drawing/2014/main" id="{1DA54B12-CF85-4F1F-8EA1-05392802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486025" cy="117157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Aplicativo</a:t>
            </a:r>
          </a:p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Flutter / Dart</a:t>
            </a:r>
          </a:p>
        </p:txBody>
      </p:sp>
      <p:sp>
        <p:nvSpPr>
          <p:cNvPr id="11" name="api">
            <a:extLst xmlns:a="http://schemas.openxmlformats.org/drawingml/2006/main">
              <a:ext uri="{FF2B5EF4-FFF2-40B4-BE49-F238E27FC236}">
                <a16:creationId xmlns:a16="http://schemas.microsoft.com/office/drawing/2014/main" id="{CA658BA4-B002-4317-964C-74860CE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239077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B30D39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API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NestJS</a:t>
            </a:r>
          </a:p>
        </p:txBody>
      </p:sp>
      <p:sp>
        <p:nvSpPr>
          <p:cNvPr id="12" name="banco">
            <a:extLst xmlns:a="http://schemas.openxmlformats.org/drawingml/2006/main">
              <a:ext uri="{FF2B5EF4-FFF2-40B4-BE49-F238E27FC236}">
                <a16:creationId xmlns:a16="http://schemas.microsoft.com/office/drawing/2014/main" id="{138EA5B8-92CA-496B-83D2-6EC74CF7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47825"/>
            <a:ext cx="2952750" cy="105727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PostgreSQL</a:t>
            </a:r>
          </a:p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Prisma e migrações</a:t>
            </a:r>
          </a:p>
        </p:txBody>
      </p:sp>
      <p:sp>
        <p:nvSpPr>
          <p:cNvPr id="13" name="arquivos">
            <a:extLst xmlns:a="http://schemas.openxmlformats.org/drawingml/2006/main">
              <a:ext uri="{FF2B5EF4-FFF2-40B4-BE49-F238E27FC236}">
                <a16:creationId xmlns:a16="http://schemas.microsoft.com/office/drawing/2014/main" id="{3ABDEB10-9C87-4751-BD34-965D65C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67075"/>
            <a:ext cx="2952750" cy="105727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Exames privados</a:t>
            </a:r>
          </a:p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Armazenamento S3</a:t>
            </a:r>
          </a:p>
        </p:txBody>
      </p:sp>
      <p:sp>
        <p:nvSpPr>
          <p:cNvPr id="14" name="notificacoes">
            <a:extLst xmlns:a="http://schemas.openxmlformats.org/drawingml/2006/main">
              <a:ext uri="{FF2B5EF4-FFF2-40B4-BE49-F238E27FC236}">
                <a16:creationId xmlns:a16="http://schemas.microsoft.com/office/drawing/2014/main" id="{A86E9F4E-8690-4B96-9747-3EFBD4D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2952750" cy="1057275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A9B0"/>
            </a:solidFill>
          </a:ln>
        </p:spPr>
        <p:txBody>
          <a:bodyPr xmlns:a="http://schemas.openxmlformats.org/drawingml/2006/main" lIns="133350" tIns="133350" rIns="133350" bIns="13335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Notificações</a:t>
            </a:r>
          </a:p>
          <a:p xmlns:a="http://schemas.openxmlformats.org/drawingml/2006/main">
            <a:pPr algn="ctr">
              <a:defRPr sz="1950" b="1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950" b="1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Aplicação e e-mail</a:t>
            </a:r>
          </a:p>
        </p:txBody>
      </p:sp>
      <p:sp>
        <p:nvSpPr>
          <p:cNvPr id="15" name="aws-planejada">
            <a:extLst xmlns:a="http://schemas.openxmlformats.org/drawingml/2006/main">
              <a:ext uri="{FF2B5EF4-FFF2-40B4-BE49-F238E27FC236}">
                <a16:creationId xmlns:a16="http://schemas.microsoft.com/office/drawing/2014/main" id="{AFA697A2-6BF8-49F8-B440-ED3E314B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15050"/>
            <a:ext cx="9925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D3E0E4"/>
                </a:solidFill>
                <a:latin typeface="Poppins"/>
                <a:ea typeface="Poppins"/>
                <a:cs typeface="Poppins"/>
              </a:rPr>
              <a:t>Plano AWS: CloudFront, ECS Fargate, RDS, S3/KMS e SES. Provisionamento ainda precisa de validação operacional.</a:t>
            </a:r>
          </a:p>
        </p:txBody>
      </p:sp>
    </p:spTree>
    <p:extLst>
      <p:ext uri="{BB962C8B-B14F-4D97-AF65-F5344CB8AC3E}">
        <p14:creationId xmlns:p14="http://schemas.microsoft.com/office/powerpoint/2010/main" val="1466856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46F6C897-8E09-48F1-88D0-ECB935D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Persistência e proteção dos dados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D1FC635C-D6DC-478C-81A7-1B74D52C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4" name="controle-0">
            <a:extLst xmlns:a="http://schemas.openxmlformats.org/drawingml/2006/main">
              <a:ext uri="{FF2B5EF4-FFF2-40B4-BE49-F238E27FC236}">
                <a16:creationId xmlns:a16="http://schemas.microsoft.com/office/drawing/2014/main" id="{F244A865-BF45-485A-8D0E-C2B5EE9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327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Acesso por conta e instituição</a:t>
            </a:r>
          </a:p>
        </p:txBody>
      </p:sp>
      <p:sp>
        <p:nvSpPr>
          <p:cNvPr id="5" name="explicacao-0">
            <a:extLst xmlns:a="http://schemas.openxmlformats.org/drawingml/2006/main">
              <a:ext uri="{FF2B5EF4-FFF2-40B4-BE49-F238E27FC236}">
                <a16:creationId xmlns:a16="http://schemas.microsoft.com/office/drawing/2014/main" id="{EAAA4E2F-C04C-4A09-B002-28F585F0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701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 API confere o perfil e os vínculos a cada requisição. A conclusão das boas-vindas pertence à conta.</a:t>
            </a:r>
          </a:p>
        </p:txBody>
      </p:sp>
      <p:sp>
        <p:nvSpPr>
          <p:cNvPr id="6" name="controle-1">
            <a:extLst xmlns:a="http://schemas.openxmlformats.org/drawingml/2006/main">
              <a:ext uri="{FF2B5EF4-FFF2-40B4-BE49-F238E27FC236}">
                <a16:creationId xmlns:a16="http://schemas.microsoft.com/office/drawing/2014/main" id="{02BE4A42-F723-489E-A140-0A667FB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327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Exames privados</a:t>
            </a:r>
          </a:p>
        </p:txBody>
      </p:sp>
      <p:sp>
        <p:nvSpPr>
          <p:cNvPr id="7" name="explicacao-1">
            <a:extLst xmlns:a="http://schemas.openxmlformats.org/drawingml/2006/main">
              <a:ext uri="{FF2B5EF4-FFF2-40B4-BE49-F238E27FC236}">
                <a16:creationId xmlns:a16="http://schemas.microsoft.com/office/drawing/2014/main" id="{608C049D-A10F-4E0A-BEB2-330BC36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33675"/>
            <a:ext cx="701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Paciente e médico autorizado acessam os arquivos. A aplicação valida formato e tamanho e cifra o conteúdo.</a:t>
            </a:r>
          </a:p>
        </p:txBody>
      </p:sp>
      <p:sp>
        <p:nvSpPr>
          <p:cNvPr id="8" name="controle-2">
            <a:extLst xmlns:a="http://schemas.openxmlformats.org/drawingml/2006/main">
              <a:ext uri="{FF2B5EF4-FFF2-40B4-BE49-F238E27FC236}">
                <a16:creationId xmlns:a16="http://schemas.microsoft.com/office/drawing/2014/main" id="{07F89680-36AE-4138-8ED9-3A5EECDE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327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Registros rastreáveis</a:t>
            </a:r>
          </a:p>
        </p:txBody>
      </p:sp>
      <p:sp>
        <p:nvSpPr>
          <p:cNvPr id="9" name="explicacao-2">
            <a:extLst xmlns:a="http://schemas.openxmlformats.org/drawingml/2006/main">
              <a:ext uri="{FF2B5EF4-FFF2-40B4-BE49-F238E27FC236}">
                <a16:creationId xmlns:a16="http://schemas.microsoft.com/office/drawing/2014/main" id="{2E8F5EAB-7F83-4342-9A48-3345C1B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701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Migrações e restrições preservam os estados do fluxo. A auditoria registra a autoria das ações.</a:t>
            </a:r>
          </a:p>
        </p:txBody>
      </p:sp>
      <p:sp>
        <p:nvSpPr>
          <p:cNvPr id="10" name="controle-3">
            <a:extLst xmlns:a="http://schemas.openxmlformats.org/drawingml/2006/main">
              <a:ext uri="{FF2B5EF4-FFF2-40B4-BE49-F238E27FC236}">
                <a16:creationId xmlns:a16="http://schemas.microsoft.com/office/drawing/2014/main" id="{6125E77D-B201-4CD4-AB9F-33433210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27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Regras do atendimento</a:t>
            </a:r>
          </a:p>
        </p:txBody>
      </p:sp>
      <p:sp>
        <p:nvSpPr>
          <p:cNvPr id="11" name="explicacao-3">
            <a:extLst xmlns:a="http://schemas.openxmlformats.org/drawingml/2006/main">
              <a:ext uri="{FF2B5EF4-FFF2-40B4-BE49-F238E27FC236}">
                <a16:creationId xmlns:a16="http://schemas.microsoft.com/office/drawing/2014/main" id="{2B959CC1-AA69-4E41-9761-10E7EA8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701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Reserva concorrente, prazos de cancelamento e reenvio de avisos recebem validação no servidor.</a:t>
            </a:r>
          </a:p>
        </p:txBody>
      </p:sp>
      <p:sp>
        <p:nvSpPr>
          <p:cNvPr id="12" name="operacao-legal">
            <a:extLst xmlns:a="http://schemas.openxmlformats.org/drawingml/2006/main">
              <a:ext uri="{FF2B5EF4-FFF2-40B4-BE49-F238E27FC236}">
                <a16:creationId xmlns:a16="http://schemas.microsoft.com/office/drawing/2014/main" id="{F58FD37C-D5D9-4135-BFF3-5CE51D7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48375"/>
            <a:ext cx="1072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Antes da publicação: responsável jurídico, canal de privacidade, segredos próprios e restauração de backup homologada.</a:t>
            </a:r>
          </a:p>
        </p:txBody>
      </p:sp>
    </p:spTree>
    <p:extLst>
      <p:ext uri="{BB962C8B-B14F-4D97-AF65-F5344CB8AC3E}">
        <p14:creationId xmlns:p14="http://schemas.microsoft.com/office/powerpoint/2010/main" val="885981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48F3C304-03E3-4E15-98BA-9EC85AF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Testes e evidências disponíveis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09AEC856-535A-48C6-84D6-7779356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4" name="numero-0">
            <a:extLst xmlns:a="http://schemas.openxmlformats.org/drawingml/2006/main">
              <a:ext uri="{FF2B5EF4-FFF2-40B4-BE49-F238E27FC236}">
                <a16:creationId xmlns:a16="http://schemas.microsoft.com/office/drawing/2014/main" id="{16ABE9FC-67DC-46DB-9F2A-90E47EC4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2543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221</a:t>
            </a:r>
          </a:p>
        </p:txBody>
      </p:sp>
      <p:sp>
        <p:nvSpPr>
          <p:cNvPr id="5" name="suite-0">
            <a:extLst xmlns:a="http://schemas.openxmlformats.org/drawingml/2006/main">
              <a:ext uri="{FF2B5EF4-FFF2-40B4-BE49-F238E27FC236}">
                <a16:creationId xmlns:a16="http://schemas.microsoft.com/office/drawing/2014/main" id="{BA841D56-D6F1-4AE4-B0CB-D70B4289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2505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Unitários da API</a:t>
            </a:r>
          </a:p>
        </p:txBody>
      </p:sp>
      <p:sp>
        <p:nvSpPr>
          <p:cNvPr id="6" name="data-0">
            <a:extLst xmlns:a="http://schemas.openxmlformats.org/drawingml/2006/main">
              <a:ext uri="{FF2B5EF4-FFF2-40B4-BE49-F238E27FC236}">
                <a16:creationId xmlns:a16="http://schemas.microsoft.com/office/drawing/2014/main" id="{629A1455-21D8-498E-881C-594655E7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33825"/>
            <a:ext cx="2486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Local, 21/10/2026</a:t>
            </a:r>
          </a:p>
        </p:txBody>
      </p:sp>
      <p:sp>
        <p:nvSpPr>
          <p:cNvPr id="7" name="numero-1">
            <a:extLst xmlns:a="http://schemas.openxmlformats.org/drawingml/2006/main">
              <a:ext uri="{FF2B5EF4-FFF2-40B4-BE49-F238E27FC236}">
                <a16:creationId xmlns:a16="http://schemas.microsoft.com/office/drawing/2014/main" id="{49A07874-C028-4F6B-B43C-BF59EFA8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90700"/>
            <a:ext cx="2543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35</a:t>
            </a:r>
          </a:p>
        </p:txBody>
      </p:sp>
      <p:sp>
        <p:nvSpPr>
          <p:cNvPr id="8" name="suite-1">
            <a:extLst xmlns:a="http://schemas.openxmlformats.org/drawingml/2006/main">
              <a:ext uri="{FF2B5EF4-FFF2-40B4-BE49-F238E27FC236}">
                <a16:creationId xmlns:a16="http://schemas.microsoft.com/office/drawing/2014/main" id="{CA5C5B53-3AC2-4BC4-AC75-7AA9BACE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28950"/>
            <a:ext cx="2505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Lógica web</a:t>
            </a:r>
          </a:p>
        </p:txBody>
      </p:sp>
      <p:sp>
        <p:nvSpPr>
          <p:cNvPr id="9" name="data-1">
            <a:extLst xmlns:a="http://schemas.openxmlformats.org/drawingml/2006/main">
              <a:ext uri="{FF2B5EF4-FFF2-40B4-BE49-F238E27FC236}">
                <a16:creationId xmlns:a16="http://schemas.microsoft.com/office/drawing/2014/main" id="{D23350FB-60D8-4BB3-9FCA-DF6A9D80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933825"/>
            <a:ext cx="2486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Local, 21/10/2026</a:t>
            </a:r>
          </a:p>
        </p:txBody>
      </p:sp>
      <p:sp>
        <p:nvSpPr>
          <p:cNvPr id="10" name="numero-2">
            <a:extLst xmlns:a="http://schemas.openxmlformats.org/drawingml/2006/main">
              <a:ext uri="{FF2B5EF4-FFF2-40B4-BE49-F238E27FC236}">
                <a16:creationId xmlns:a16="http://schemas.microsoft.com/office/drawing/2014/main" id="{740CCA52-6BC7-4309-B968-5C532117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90700"/>
            <a:ext cx="2543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78</a:t>
            </a:r>
          </a:p>
        </p:txBody>
      </p:sp>
      <p:sp>
        <p:nvSpPr>
          <p:cNvPr id="11" name="suite-2">
            <a:extLst xmlns:a="http://schemas.openxmlformats.org/drawingml/2006/main">
              <a:ext uri="{FF2B5EF4-FFF2-40B4-BE49-F238E27FC236}">
                <a16:creationId xmlns:a16="http://schemas.microsoft.com/office/drawing/2014/main" id="{39085A57-D332-4391-84E5-6BDB00C7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28950"/>
            <a:ext cx="2505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Integração da API</a:t>
            </a:r>
          </a:p>
        </p:txBody>
      </p:sp>
      <p:sp>
        <p:nvSpPr>
          <p:cNvPr id="12" name="data-2">
            <a:extLst xmlns:a="http://schemas.openxmlformats.org/drawingml/2006/main">
              <a:ext uri="{FF2B5EF4-FFF2-40B4-BE49-F238E27FC236}">
                <a16:creationId xmlns:a16="http://schemas.microsoft.com/office/drawing/2014/main" id="{3F21AAB6-2C1E-43F9-8864-44BEFDE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33825"/>
            <a:ext cx="2486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CI, 19/10/2026</a:t>
            </a:r>
          </a:p>
        </p:txBody>
      </p:sp>
      <p:sp>
        <p:nvSpPr>
          <p:cNvPr id="13" name="numero-3">
            <a:extLst xmlns:a="http://schemas.openxmlformats.org/drawingml/2006/main">
              <a:ext uri="{FF2B5EF4-FFF2-40B4-BE49-F238E27FC236}">
                <a16:creationId xmlns:a16="http://schemas.microsoft.com/office/drawing/2014/main" id="{145CEC7C-DCE8-4811-BFCA-1AFBB40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90700"/>
            <a:ext cx="2543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5925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76</a:t>
            </a:r>
          </a:p>
        </p:txBody>
      </p:sp>
      <p:sp>
        <p:nvSpPr>
          <p:cNvPr id="14" name="suite-3">
            <a:extLst xmlns:a="http://schemas.openxmlformats.org/drawingml/2006/main">
              <a:ext uri="{FF2B5EF4-FFF2-40B4-BE49-F238E27FC236}">
                <a16:creationId xmlns:a16="http://schemas.microsoft.com/office/drawing/2014/main" id="{36E88497-7D15-4B48-9ED4-0E8A677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28950"/>
            <a:ext cx="2505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Testes Flutter</a:t>
            </a:r>
          </a:p>
        </p:txBody>
      </p:sp>
      <p:sp>
        <p:nvSpPr>
          <p:cNvPr id="15" name="data-3">
            <a:extLst xmlns:a="http://schemas.openxmlformats.org/drawingml/2006/main">
              <a:ext uri="{FF2B5EF4-FFF2-40B4-BE49-F238E27FC236}">
                <a16:creationId xmlns:a16="http://schemas.microsoft.com/office/drawing/2014/main" id="{E66651FF-C3F3-475A-84E2-E43D70D3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33825"/>
            <a:ext cx="24860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500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CI, 19/10/2026</a:t>
            </a:r>
          </a:p>
        </p:txBody>
      </p:sp>
      <p:sp>
        <p:nvSpPr>
          <p:cNvPr id="16" name="fisico">
            <a:extLst xmlns:a="http://schemas.openxmlformats.org/drawingml/2006/main">
              <a:ext uri="{FF2B5EF4-FFF2-40B4-BE49-F238E27FC236}">
                <a16:creationId xmlns:a16="http://schemas.microsoft.com/office/drawing/2014/main" id="{31B1FD8C-59E1-4811-A5DE-B742D316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625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225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Android real: verificação parcial da base 609b4cb7</a:t>
            </a:r>
          </a:p>
        </p:txBody>
      </p:sp>
      <p:sp>
        <p:nvSpPr>
          <p:cNvPr id="17" name="limite-evidencia">
            <a:extLst xmlns:a="http://schemas.openxmlformats.org/drawingml/2006/main">
              <a:ext uri="{FF2B5EF4-FFF2-40B4-BE49-F238E27FC236}">
                <a16:creationId xmlns:a16="http://schemas.microsoft.com/office/drawing/2014/main" id="{E2324AB9-7D32-4C91-913F-AA2C565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458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75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As correções posteriores ainda exigem nova rodada no aparelho. Os 23 casos formais mantêm o aceite humano pendente.</a:t>
            </a:r>
          </a:p>
        </p:txBody>
      </p:sp>
    </p:spTree>
    <p:extLst>
      <p:ext uri="{BB962C8B-B14F-4D97-AF65-F5344CB8AC3E}">
        <p14:creationId xmlns:p14="http://schemas.microsoft.com/office/powerpoint/2010/main" val="352431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5CE6840E-F487-45C8-AD22-BFE6EEA3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Limites da entrega atual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47458B2A-A549-4709-9C85-01641C88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52646C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  <p:sp>
        <p:nvSpPr>
          <p:cNvPr id="4" name="limite-0">
            <a:extLst xmlns:a="http://schemas.openxmlformats.org/drawingml/2006/main">
              <a:ext uri="{FF2B5EF4-FFF2-40B4-BE49-F238E27FC236}">
                <a16:creationId xmlns:a16="http://schemas.microsoft.com/office/drawing/2014/main" id="{B204DCFE-88EF-4B48-9363-9DC22E2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5925"/>
            <a:ext cx="350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Interfaces ainda sem integração</a:t>
            </a:r>
          </a:p>
        </p:txBody>
      </p:sp>
      <p:sp>
        <p:nvSpPr>
          <p:cNvPr id="5" name="detalhe-0">
            <a:extLst xmlns:a="http://schemas.openxmlformats.org/drawingml/2006/main">
              <a:ext uri="{FF2B5EF4-FFF2-40B4-BE49-F238E27FC236}">
                <a16:creationId xmlns:a16="http://schemas.microsoft.com/office/drawing/2014/main" id="{1A235261-19D2-4031-A44F-991C595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85925"/>
            <a:ext cx="676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Registro individual de doação, indicadores e relatórios por período possuem serviços na API, mas não têm tela no cliente atual.</a:t>
            </a:r>
          </a:p>
        </p:txBody>
      </p:sp>
      <p:sp>
        <p:nvSpPr>
          <p:cNvPr id="6" name="limite-1">
            <a:extLst xmlns:a="http://schemas.openxmlformats.org/drawingml/2006/main">
              <a:ext uri="{FF2B5EF4-FFF2-40B4-BE49-F238E27FC236}">
                <a16:creationId xmlns:a16="http://schemas.microsoft.com/office/drawing/2014/main" id="{C0739FBD-8804-45B0-89FD-B26899E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19400"/>
            <a:ext cx="350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Recomendação de locais</a:t>
            </a:r>
          </a:p>
        </p:txBody>
      </p:sp>
      <p:sp>
        <p:nvSpPr>
          <p:cNvPr id="7" name="detalhe-1">
            <a:extLst xmlns:a="http://schemas.openxmlformats.org/drawingml/2006/main">
              <a:ext uri="{FF2B5EF4-FFF2-40B4-BE49-F238E27FC236}">
                <a16:creationId xmlns:a16="http://schemas.microsoft.com/office/drawing/2014/main" id="{23932A25-2D11-4A58-B1C2-81CD4D5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676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 tela busca serviços por cidade no Maps. Priorização individual por compatibilidade e proximidade ainda exige integração.</a:t>
            </a:r>
          </a:p>
        </p:txBody>
      </p:sp>
      <p:sp>
        <p:nvSpPr>
          <p:cNvPr id="8" name="limite-2">
            <a:extLst xmlns:a="http://schemas.openxmlformats.org/drawingml/2006/main">
              <a:ext uri="{FF2B5EF4-FFF2-40B4-BE49-F238E27FC236}">
                <a16:creationId xmlns:a16="http://schemas.microsoft.com/office/drawing/2014/main" id="{50AAF2F0-767D-4A59-8EDF-CCB53E18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350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Aparelhos e serviços externos</a:t>
            </a:r>
          </a:p>
        </p:txBody>
      </p:sp>
      <p:sp>
        <p:nvSpPr>
          <p:cNvPr id="9" name="detalhe-2">
            <a:extLst xmlns:a="http://schemas.openxmlformats.org/drawingml/2006/main">
              <a:ext uri="{FF2B5EF4-FFF2-40B4-BE49-F238E27FC236}">
                <a16:creationId xmlns:a16="http://schemas.microsoft.com/office/drawing/2014/main" id="{20BE26DA-465B-4D07-A544-DCF4E3E5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52875"/>
            <a:ext cx="676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Novo APK, envio e abertura nativos de exames, falhas de GPS, Maps e teleconsulta precisam de homologação completa. iOS exige ambiente próprio.</a:t>
            </a:r>
          </a:p>
        </p:txBody>
      </p:sp>
      <p:sp>
        <p:nvSpPr>
          <p:cNvPr id="10" name="limite-3">
            <a:extLst xmlns:a="http://schemas.openxmlformats.org/drawingml/2006/main">
              <a:ext uri="{FF2B5EF4-FFF2-40B4-BE49-F238E27FC236}">
                <a16:creationId xmlns:a16="http://schemas.microsoft.com/office/drawing/2014/main" id="{82619C8E-AC9F-46A6-9477-8095B3CF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86350"/>
            <a:ext cx="3505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defPPr>
            <a:lvl1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1pPr>
            <a:lvl2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2pPr>
            <a:lvl3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3pPr>
            <a:lvl4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4pPr>
            <a:lvl5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5pPr>
            <a:lvl6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6pPr>
            <a:lvl7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7pPr>
            <a:lvl8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8pPr>
            <a:lvl9pPr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B30D39"/>
                </a:solidFill>
                <a:latin typeface="Poppins"/>
                <a:ea typeface="Poppins"/>
                <a:cs typeface="Poppins"/>
              </a:rPr>
              <a:t>Operação em produção</a:t>
            </a:r>
          </a:p>
        </p:txBody>
      </p:sp>
      <p:sp>
        <p:nvSpPr>
          <p:cNvPr id="11" name="detalhe-3">
            <a:extLst xmlns:a="http://schemas.openxmlformats.org/drawingml/2006/main">
              <a:ext uri="{FF2B5EF4-FFF2-40B4-BE49-F238E27FC236}">
                <a16:creationId xmlns:a16="http://schemas.microsoft.com/office/drawing/2014/main" id="{1DE4D6CF-56FA-46F3-A2E1-15B7AFE3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86350"/>
            <a:ext cx="676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18313B"/>
                </a:solidFill>
                <a:latin typeface="Poppins"/>
                <a:ea typeface="Poppins"/>
                <a:cs typeface="Poppins"/>
              </a:rPr>
              <a:t>AWS, domínio, assinatura de distribuição, identidade jurídica e recuperação de backup exigem configuração e ensaio de operação.</a:t>
            </a:r>
          </a:p>
        </p:txBody>
      </p:sp>
    </p:spTree>
    <p:extLst>
      <p:ext uri="{BB962C8B-B14F-4D97-AF65-F5344CB8AC3E}">
        <p14:creationId xmlns:p14="http://schemas.microsoft.com/office/powerpoint/2010/main" val="343956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8519C058-5942-462F-ACA1-87A1D31B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33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Próximos passos para a entrega</a:t>
            </a:r>
          </a:p>
        </p:txBody>
      </p:sp>
      <p:sp>
        <p:nvSpPr>
          <p:cNvPr id="3" name="pagina">
            <a:extLst xmlns:a="http://schemas.openxmlformats.org/drawingml/2006/main">
              <a:ext uri="{FF2B5EF4-FFF2-40B4-BE49-F238E27FC236}">
                <a16:creationId xmlns:a16="http://schemas.microsoft.com/office/drawing/2014/main" id="{EC331969-BA34-48E5-A5B8-7F8C34D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24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defRPr>
            </a:pPr>
            <a:r>
              <a:rPr sz="1275" b="0" i="0">
                <a:solidFill>
                  <a:srgbClr val="BDD0D6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  <p:sp>
        <p:nvSpPr>
          <p:cNvPr id="4" name="prioridade-0">
            <a:extLst xmlns:a="http://schemas.openxmlformats.org/drawingml/2006/main">
              <a:ext uri="{FF2B5EF4-FFF2-40B4-BE49-F238E27FC236}">
                <a16:creationId xmlns:a16="http://schemas.microsoft.com/office/drawing/2014/main" id="{B795C642-F1A3-4B75-92B1-48725BF0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52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defPPr>
            <a:lvl1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1pPr>
            <a:lvl2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2pPr>
            <a:lvl3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3pPr>
            <a:lvl4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4pPr>
            <a:lvl5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5pPr>
            <a:lvl6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6pPr>
            <a:lvl7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7pPr>
            <a:lvl8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8pPr>
            <a:lvl9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pPr>
            <a:r>
              <a: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5" name="acao-0">
            <a:extLst xmlns:a="http://schemas.openxmlformats.org/drawingml/2006/main">
              <a:ext uri="{FF2B5EF4-FFF2-40B4-BE49-F238E27FC236}">
                <a16:creationId xmlns:a16="http://schemas.microsoft.com/office/drawing/2014/main" id="{070ED833-C1E1-4BBD-A03B-36C977EF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811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Homologação formal</a:t>
            </a:r>
          </a:p>
        </p:txBody>
      </p:sp>
      <p:sp>
        <p:nvSpPr>
          <p:cNvPr id="6" name="resultado-0">
            <a:extLst xmlns:a="http://schemas.openxmlformats.org/drawingml/2006/main">
              <a:ext uri="{FF2B5EF4-FFF2-40B4-BE49-F238E27FC236}">
                <a16:creationId xmlns:a16="http://schemas.microsoft.com/office/drawing/2014/main" id="{D792C346-C462-4CE4-B5DC-37529F26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581150"/>
            <a:ext cx="560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Executar os 23 roteiros com versão, resultado, executor e evidência.</a:t>
            </a:r>
          </a:p>
        </p:txBody>
      </p:sp>
      <p:sp>
        <p:nvSpPr>
          <p:cNvPr id="7" name="prioridade-1">
            <a:extLst xmlns:a="http://schemas.openxmlformats.org/drawingml/2006/main">
              <a:ext uri="{FF2B5EF4-FFF2-40B4-BE49-F238E27FC236}">
                <a16:creationId xmlns:a16="http://schemas.microsoft.com/office/drawing/2014/main" id="{6C311C1D-951E-487C-BFD3-9A07B48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2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defPPr>
            <a:lvl1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1pPr>
            <a:lvl2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2pPr>
            <a:lvl3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3pPr>
            <a:lvl4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4pPr>
            <a:lvl5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5pPr>
            <a:lvl6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6pPr>
            <a:lvl7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7pPr>
            <a:lvl8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8pPr>
            <a:lvl9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pPr>
            <a:r>
              <a: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8" name="acao-1">
            <a:extLst xmlns:a="http://schemas.openxmlformats.org/drawingml/2006/main">
              <a:ext uri="{FF2B5EF4-FFF2-40B4-BE49-F238E27FC236}">
                <a16:creationId xmlns:a16="http://schemas.microsoft.com/office/drawing/2014/main" id="{FEA1DF7A-CE16-4A33-9765-D71635DC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Fluxo completo na interface</a:t>
            </a:r>
          </a:p>
        </p:txBody>
      </p:sp>
      <p:sp>
        <p:nvSpPr>
          <p:cNvPr id="9" name="resultado-1">
            <a:extLst xmlns:a="http://schemas.openxmlformats.org/drawingml/2006/main">
              <a:ext uri="{FF2B5EF4-FFF2-40B4-BE49-F238E27FC236}">
                <a16:creationId xmlns:a16="http://schemas.microsoft.com/office/drawing/2014/main" id="{337E1F5A-5207-4C04-A2E7-C148D93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76500"/>
            <a:ext cx="560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Integrar e conferir doação individual, indicadores e relatórios.</a:t>
            </a:r>
          </a:p>
        </p:txBody>
      </p:sp>
      <p:sp>
        <p:nvSpPr>
          <p:cNvPr id="10" name="prioridade-2">
            <a:extLst xmlns:a="http://schemas.openxmlformats.org/drawingml/2006/main">
              <a:ext uri="{FF2B5EF4-FFF2-40B4-BE49-F238E27FC236}">
                <a16:creationId xmlns:a16="http://schemas.microsoft.com/office/drawing/2014/main" id="{51AAB2FC-4737-49D3-AB56-CA8F8611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2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defPPr>
            <a:lvl1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1pPr>
            <a:lvl2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2pPr>
            <a:lvl3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3pPr>
            <a:lvl4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4pPr>
            <a:lvl5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5pPr>
            <a:lvl6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6pPr>
            <a:lvl7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7pPr>
            <a:lvl8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8pPr>
            <a:lvl9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pPr>
            <a:r>
              <a: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1" name="acao-2">
            <a:extLst xmlns:a="http://schemas.openxmlformats.org/drawingml/2006/main">
              <a:ext uri="{FF2B5EF4-FFF2-40B4-BE49-F238E27FC236}">
                <a16:creationId xmlns:a16="http://schemas.microsoft.com/office/drawing/2014/main" id="{84291AD3-2A2A-401A-8738-274A9F72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Nova rodada no aparelho</a:t>
            </a:r>
          </a:p>
        </p:txBody>
      </p:sp>
      <p:sp>
        <p:nvSpPr>
          <p:cNvPr id="12" name="resultado-2">
            <a:extLst xmlns:a="http://schemas.openxmlformats.org/drawingml/2006/main">
              <a:ext uri="{FF2B5EF4-FFF2-40B4-BE49-F238E27FC236}">
                <a16:creationId xmlns:a16="http://schemas.microsoft.com/office/drawing/2014/main" id="{1710E2D9-EF2B-46FB-AFEB-5AFC4E7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71850"/>
            <a:ext cx="560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Testar o APK atualizado, arquivos privados, GPS e serviços externos.</a:t>
            </a:r>
          </a:p>
        </p:txBody>
      </p:sp>
      <p:sp>
        <p:nvSpPr>
          <p:cNvPr id="13" name="prioridade-3">
            <a:extLst xmlns:a="http://schemas.openxmlformats.org/drawingml/2006/main">
              <a:ext uri="{FF2B5EF4-FFF2-40B4-BE49-F238E27FC236}">
                <a16:creationId xmlns:a16="http://schemas.microsoft.com/office/drawing/2014/main" id="{16DFB554-E0ED-4FB4-A332-07927C0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52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defPPr>
            <a:lvl1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1pPr>
            <a:lvl2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2pPr>
            <a:lvl3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3pPr>
            <a:lvl4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4pPr>
            <a:lvl5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5pPr>
            <a:lvl6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6pPr>
            <a:lvl7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7pPr>
            <a:lvl8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8pPr>
            <a:lvl9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pPr>
            <a:r>
              <a: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14" name="acao-3">
            <a:extLst xmlns:a="http://schemas.openxmlformats.org/drawingml/2006/main">
              <a:ext uri="{FF2B5EF4-FFF2-40B4-BE49-F238E27FC236}">
                <a16:creationId xmlns:a16="http://schemas.microsoft.com/office/drawing/2014/main" id="{684718DC-1DF5-49BB-8F8F-E412351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672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Ensaio da equipe</a:t>
            </a:r>
          </a:p>
        </p:txBody>
      </p:sp>
      <p:sp>
        <p:nvSpPr>
          <p:cNvPr id="15" name="resultado-3">
            <a:extLst xmlns:a="http://schemas.openxmlformats.org/drawingml/2006/main">
              <a:ext uri="{FF2B5EF4-FFF2-40B4-BE49-F238E27FC236}">
                <a16:creationId xmlns:a16="http://schemas.microsoft.com/office/drawing/2014/main" id="{A3C28918-0C03-43B3-A1D6-DEC82A9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267200"/>
            <a:ext cx="560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Dividir a fala, medir a apresentação e repetir a sequência após as correções.</a:t>
            </a:r>
          </a:p>
        </p:txBody>
      </p:sp>
      <p:sp>
        <p:nvSpPr>
          <p:cNvPr id="16" name="prioridade-4">
            <a:extLst xmlns:a="http://schemas.openxmlformats.org/drawingml/2006/main">
              <a:ext uri="{FF2B5EF4-FFF2-40B4-BE49-F238E27FC236}">
                <a16:creationId xmlns:a16="http://schemas.microsoft.com/office/drawing/2014/main" id="{55084C9D-DE02-4DE9-A74D-D6F1E34A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523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defPPr>
            <a:lvl1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1pPr>
            <a:lvl2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2pPr>
            <a:lvl3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3pPr>
            <a:lvl4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4pPr>
            <a:lvl5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5pPr>
            <a:lvl6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6pPr>
            <a:lvl7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7pPr>
            <a:lvl8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8pPr>
            <a:lvl9pPr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defRPr>
            </a:pPr>
            <a:r>
              <a:rPr sz="2775" b="1" i="0">
                <a:solidFill>
                  <a:srgbClr val="FA6C93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17" name="acao-4">
            <a:extLst xmlns:a="http://schemas.openxmlformats.org/drawingml/2006/main">
              <a:ext uri="{FF2B5EF4-FFF2-40B4-BE49-F238E27FC236}">
                <a16:creationId xmlns:a16="http://schemas.microsoft.com/office/drawing/2014/main" id="{C715BF27-74DC-415F-8B2A-345516E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625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2025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Revisão e publicação</a:t>
            </a:r>
          </a:p>
        </p:txBody>
      </p:sp>
      <p:sp>
        <p:nvSpPr>
          <p:cNvPr id="18" name="resultado-4">
            <a:extLst xmlns:a="http://schemas.openxmlformats.org/drawingml/2006/main">
              <a:ext uri="{FF2B5EF4-FFF2-40B4-BE49-F238E27FC236}">
                <a16:creationId xmlns:a16="http://schemas.microsoft.com/office/drawing/2014/main" id="{51D65DE1-A83C-4DB3-BFC2-EEC753C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162550"/>
            <a:ext cx="560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8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Jhonatan revisa o merge. A implantação segue o plano AWS e a validação operacional.</a:t>
            </a:r>
          </a:p>
        </p:txBody>
      </p:sp>
      <p:sp>
        <p:nvSpPr>
          <p:cNvPr id="19" name="aprovacao">
            <a:extLst xmlns:a="http://schemas.openxmlformats.org/drawingml/2006/main">
              <a:ext uri="{FF2B5EF4-FFF2-40B4-BE49-F238E27FC236}">
                <a16:creationId xmlns:a16="http://schemas.microsoft.com/office/drawing/2014/main" id="{12F3C11D-40CA-4F7D-8D0C-C1126509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10153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lnSpc>
                <a:spcPct val="113000"/>
              </a:lnSpc>
              <a:buNone/>
              <a:def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defRPr>
            </a:pPr>
            <a:r>
              <a:rPr sz="1500" b="0" i="0">
                <a:solidFill>
                  <a:srgbClr val="D5E1E5"/>
                </a:solidFill>
                <a:latin typeface="Poppins"/>
                <a:ea typeface="Poppins"/>
                <a:cs typeface="Poppins"/>
              </a:rPr>
              <a:t>A equipe aprovou as telas. O ensaio coletivo e o aceite formal ainda precisam acontecer.</a:t>
            </a:r>
          </a:p>
        </p:txBody>
      </p:sp>
    </p:spTree>
    <p:extLst>
      <p:ext uri="{BB962C8B-B14F-4D97-AF65-F5344CB8AC3E}">
        <p14:creationId xmlns:p14="http://schemas.microsoft.com/office/powerpoint/2010/main" val="1841718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2026-10-22T09:34:54.7360000Z</dcterms:created>
  <dcterms:modified xsi:type="dcterms:W3CDTF">2026-10-22T09:34:54.7360000Z</dcterms:modified>
</coreProperties>
</file>